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0" r:id="rId1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Protocol Fees</c:v>
                </c:pt>
              </c:strCache>
            </c:strRef>
          </c:tx>
          <c:spPr>
            <a:solidFill>
              <a:srgbClr val="14F195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2.5</c:v>
                </c:pt>
                <c:pt idx="1">
                  <c:v>120</c:v>
                </c:pt>
                <c:pt idx="2">
                  <c:v>875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Premium Subs</c:v>
                </c:pt>
              </c:strCache>
            </c:strRef>
          </c:tx>
          <c:spPr>
            <a:solidFill>
              <a:srgbClr val="9945FF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</c:v>
                </c:pt>
                <c:pt idx="1">
                  <c:v>120</c:v>
                </c:pt>
                <c:pt idx="2">
                  <c:v>600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B2B</c:v>
                </c:pt>
              </c:strCache>
            </c:strRef>
          </c:tx>
          <c:spPr>
            <a:solidFill>
              <a:srgbClr val="06B6D4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50</c:v>
                </c:pt>
                <c:pt idx="2">
                  <c:v>500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8B9DC3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1A274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8B9DC3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000" b="0" i="0" u="none" strike="noStrike" kern="1200" baseline="0">
              <a:solidFill>
                <a:srgbClr val="8B9DC3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835aa170-cc7d-4a7f-8e22-a954acbe9083}"/>
      </c:ext>
    </c:extLst>
  </c:chart>
  <c:spPr>
    <a:solidFill>
      <a:srgbClr val="131C2E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3.png"/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14F195">
              <a:alpha val="92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2926080" y="3840480"/>
            <a:ext cx="3200400" cy="3200400"/>
          </a:xfrm>
          <a:prstGeom prst="ellipse">
            <a:avLst/>
          </a:prstGeom>
          <a:solidFill>
            <a:srgbClr val="9945FF">
              <a:alpha val="94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kern="0" spc="800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DEADSWITCH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680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4F19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Onchain Inheritance &amp; Dead Man's Switch Protocol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7680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Your crypto shouldn't die with you.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on Solana  •  Non-Custodial  •  Permissionless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Holixora Labs  |  April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14F19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Billions in Crypto Lost Forever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560320" cy="2011680"/>
          </a:xfrm>
          <a:prstGeom prst="rect">
            <a:avLst/>
          </a:prstGeom>
          <a:solidFill>
            <a:srgbClr val="131C2E"/>
          </a:solidFill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745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8600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F19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$170B+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22960" y="283464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 Bitcoin permanently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lost or inaccessible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474720" y="1691640"/>
            <a:ext cx="2560320" cy="2011680"/>
          </a:xfrm>
          <a:prstGeom prst="rect">
            <a:avLst/>
          </a:prstGeom>
          <a:solidFill>
            <a:srgbClr val="131C2E"/>
          </a:solidFill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187452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57600" y="228600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F19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20%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3657600" y="283464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 all Bitcoin held 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dormant wallets (5+ years)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309360" y="1691640"/>
            <a:ext cx="2560320" cy="2011680"/>
          </a:xfrm>
          <a:prstGeom prst="rect">
            <a:avLst/>
          </a:prstGeom>
          <a:solidFill>
            <a:srgbClr val="131C2E"/>
          </a:solidFill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87452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92240" y="228600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F19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~5%</a:t>
            </a:r>
            <a:endParaRPr lang="en-US" sz="3000" dirty="0"/>
          </a:p>
        </p:txBody>
      </p:sp>
      <p:sp>
        <p:nvSpPr>
          <p:cNvPr id="15" name="Text 10"/>
          <p:cNvSpPr/>
          <p:nvPr/>
        </p:nvSpPr>
        <p:spPr>
          <a:xfrm>
            <a:off x="6492240" y="283464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 crypto holders have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any inheritance plan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640080" y="3977640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When a private key dies with its owner, the funds are gone — permanently.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40080" y="4572000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Sources: Chainalysis 2023, Finder Survey 2023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14F19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THE "GRANDMA PROBLEM"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Crypto Inheritance Is Broken by Design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840480" cy="2651760"/>
          </a:xfrm>
          <a:prstGeom prst="rect">
            <a:avLst/>
          </a:prstGeom>
          <a:solidFill>
            <a:srgbClr val="131C2E"/>
          </a:solidFill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F19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Traditional Finance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3474720" cy="2011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Banks have "next of kin" processes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Courts can order account transfers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Lawyers manage estate distribution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Government ID proves inheritance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691640"/>
            <a:ext cx="3840480" cy="2651760"/>
          </a:xfrm>
          <a:prstGeom prst="rect">
            <a:avLst/>
          </a:prstGeom>
          <a:solidFill>
            <a:srgbClr val="1C1015"/>
          </a:solidFill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78308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Cryptocurrency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2194560"/>
            <a:ext cx="3474720" cy="2011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✗  No centralized authority to contact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✗  No court can override a blockchain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✗  Private keys are the only access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✗  Lost keys = lost funds, permanently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4572000"/>
            <a:ext cx="7863840" cy="18288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11" name="Text 9"/>
          <p:cNvSpPr/>
          <p:nvPr/>
        </p:nvSpPr>
        <p:spPr>
          <a:xfrm>
            <a:off x="640080" y="4663440"/>
            <a:ext cx="7863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"Here's 24 random words. When I die, download Phantom, import them... and don't let anyone see this paper."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14F19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WHY EXISTING SOLUTIONS FAIL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None Solve the Full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840480" cy="1371600"/>
          </a:xfrm>
          <a:prstGeom prst="rect">
            <a:avLst/>
          </a:prstGeom>
          <a:solidFill>
            <a:srgbClr val="131C2E"/>
          </a:solidFill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2880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Seed Phrase on Paper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91840" y="182880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F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 RISK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2240280"/>
            <a:ext cx="33832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Fragile, insecure, requires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technical knowledge from heir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691640"/>
            <a:ext cx="3840480" cy="1371600"/>
          </a:xfrm>
          <a:prstGeom prst="rect">
            <a:avLst/>
          </a:prstGeom>
          <a:solidFill>
            <a:srgbClr val="131C2E"/>
          </a:solidFill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83480" y="182880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Multisig Wallets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06640" y="182880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MEDIUM RISK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983480" y="2240280"/>
            <a:ext cx="33832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Operationally complex, no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automation, requires coordination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3840480" cy="1371600"/>
          </a:xfrm>
          <a:prstGeom prst="rect">
            <a:avLst/>
          </a:prstGeom>
          <a:solidFill>
            <a:srgbClr val="131C2E"/>
          </a:solidFill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342900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Centralized Custody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91840" y="342900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MED-HIGH RISK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68680" y="3840480"/>
            <a:ext cx="33832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Custodial. Company goes bankrupt?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Your plan goes with it (FTX, Celsius)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291840"/>
            <a:ext cx="3840480" cy="1371600"/>
          </a:xfrm>
          <a:prstGeom prst="rect">
            <a:avLst/>
          </a:prstGeom>
          <a:solidFill>
            <a:srgbClr val="131C2E"/>
          </a:solidFill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83480" y="342900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Sarcophagus Protocol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06640" y="342900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MEDIUM RISK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83480" y="3840480"/>
            <a:ext cx="33832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Reveals secrets, not assets.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 check-in, custom token, no Solana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5486400" cy="5486400"/>
          </a:xfrm>
          <a:prstGeom prst="ellipse">
            <a:avLst/>
          </a:prstGeom>
          <a:solidFill>
            <a:srgbClr val="14F195">
              <a:alpha val="94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640080" y="36576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14F19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Introducing Deadswitch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7863840" cy="822960"/>
          </a:xfrm>
          <a:prstGeom prst="rect">
            <a:avLst/>
          </a:prstGeom>
          <a:solidFill>
            <a:srgbClr val="131C2E"/>
          </a:solidFill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691640"/>
            <a:ext cx="73152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"If I stop using my wallet for 90 days, send 50% to my wife, 30% to my brother, and 20% to charity — automatically, trustlessly."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2560320" cy="2011680"/>
          </a:xfrm>
          <a:prstGeom prst="rect">
            <a:avLst/>
          </a:prstGeom>
          <a:solidFill>
            <a:srgbClr val="131C2E"/>
          </a:solidFill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92608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338328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Non-Custodial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3794760"/>
            <a:ext cx="21945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Your keys stay yours. Assets in your wallet until redistribution.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74720" y="2743200"/>
            <a:ext cx="2560320" cy="2011680"/>
          </a:xfrm>
          <a:prstGeom prst="rect">
            <a:avLst/>
          </a:prstGeom>
          <a:solidFill>
            <a:srgbClr val="131C2E"/>
          </a:solidFill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29260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57600" y="338328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Passive Proof-of-Life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657600" y="3794760"/>
            <a:ext cx="21945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Any wallet activity resets the timer. No check-ins needed.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309360" y="2743200"/>
            <a:ext cx="2560320" cy="2011680"/>
          </a:xfrm>
          <a:prstGeom prst="rect">
            <a:avLst/>
          </a:prstGeom>
          <a:solidFill>
            <a:srgbClr val="131C2E"/>
          </a:solidFill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92608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92240" y="338328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Permissionless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492240" y="3794760"/>
            <a:ext cx="21945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Anyone can trigger execution. No admin keys or node network.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14F19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Simple. Automatic. Zero Maintenance.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965960" cy="2743200"/>
          </a:xfrm>
          <a:prstGeom prst="rect">
            <a:avLst/>
          </a:prstGeom>
          <a:solidFill>
            <a:srgbClr val="131C2E"/>
          </a:solidFill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82880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F19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94360" y="2331720"/>
            <a:ext cx="16916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Connect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Wallet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3063240"/>
            <a:ext cx="169164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your existing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Phantom, Backpack,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 Solflare wallet</a:t>
            </a:r>
            <a:endParaRPr lang="en-US" sz="10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3160" y="2743200"/>
            <a:ext cx="274320" cy="2743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697480" y="1691640"/>
            <a:ext cx="1965960" cy="2743200"/>
          </a:xfrm>
          <a:prstGeom prst="rect">
            <a:avLst/>
          </a:prstGeom>
          <a:solidFill>
            <a:srgbClr val="131C2E"/>
          </a:solidFill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834640" y="182880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F19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2834640" y="2331720"/>
            <a:ext cx="16916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Create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Vault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2834640" y="3063240"/>
            <a:ext cx="169164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Choose beneficiaries,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assets, and inactivity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window (30–365 days)</a:t>
            </a:r>
            <a:endParaRPr lang="en-US" sz="10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2743200"/>
            <a:ext cx="274320" cy="27432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937760" y="1691640"/>
            <a:ext cx="1965960" cy="2743200"/>
          </a:xfrm>
          <a:prstGeom prst="rect">
            <a:avLst/>
          </a:prstGeom>
          <a:solidFill>
            <a:srgbClr val="131C2E"/>
          </a:solidFill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5074920" y="182880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F19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2"/>
          <p:cNvSpPr/>
          <p:nvPr/>
        </p:nvSpPr>
        <p:spPr>
          <a:xfrm>
            <a:off x="5074920" y="2331720"/>
            <a:ext cx="16916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Live Your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Life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5074920" y="3063240"/>
            <a:ext cx="169164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Normal wallet usage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automatically resets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timer</a:t>
            </a:r>
            <a:endParaRPr lang="en-US" sz="10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2743200"/>
            <a:ext cx="274320" cy="27432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7178040" y="1691640"/>
            <a:ext cx="1965960" cy="2743200"/>
          </a:xfrm>
          <a:prstGeom prst="rect">
            <a:avLst/>
          </a:prstGeom>
          <a:solidFill>
            <a:srgbClr val="131C2E"/>
          </a:solidFill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7315200" y="182880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F19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04</a:t>
            </a:r>
            <a:endParaRPr lang="en-US" sz="2800" dirty="0"/>
          </a:p>
        </p:txBody>
      </p:sp>
      <p:sp>
        <p:nvSpPr>
          <p:cNvPr id="21" name="Text 16"/>
          <p:cNvSpPr/>
          <p:nvPr/>
        </p:nvSpPr>
        <p:spPr>
          <a:xfrm>
            <a:off x="7315200" y="2331720"/>
            <a:ext cx="16916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Auto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Redistribute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7315200" y="3063240"/>
            <a:ext cx="169164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inactive, assets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transfer to your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beneficiaries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640080" y="4663440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Setup takes under 5 minutes  •  Costs less than $0.01 in transaction fees  •  Beneficiaries need zero technical knowledge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14F19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Four Components, One Protocol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840480" cy="1371600"/>
          </a:xfrm>
          <a:prstGeom prst="rect">
            <a:avLst/>
          </a:prstGeom>
          <a:solidFill>
            <a:srgbClr val="131C2E"/>
          </a:solidFill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288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82880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Anchor Program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2240280"/>
            <a:ext cx="34747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protocol on Solana. Vault creation, heartbeats, redistribution. Immutable once audited.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54880" y="1691640"/>
            <a:ext cx="3840480" cy="1371600"/>
          </a:xfrm>
          <a:prstGeom prst="rect">
            <a:avLst/>
          </a:prstGeom>
          <a:solidFill>
            <a:srgbClr val="131C2E"/>
          </a:solidFill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82880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82880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Helius Webhooks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937760" y="2240280"/>
            <a:ext cx="34747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Monitors wallet activity in real-time. Sub-second latency. Battle-tested infrastructure.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40080" y="3291840"/>
            <a:ext cx="3840480" cy="1371600"/>
          </a:xfrm>
          <a:prstGeom prst="rect">
            <a:avLst/>
          </a:prstGeom>
          <a:solidFill>
            <a:srgbClr val="131C2E"/>
          </a:solidFill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42900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342900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Crank Network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822960" y="3840480"/>
            <a:ext cx="34747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Permissionless execution bots. Economic incentive (0.1% fee). No staking or approval needed.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754880" y="3291840"/>
            <a:ext cx="3840480" cy="1371600"/>
          </a:xfrm>
          <a:prstGeom prst="rect">
            <a:avLst/>
          </a:prstGeom>
          <a:solidFill>
            <a:srgbClr val="131C2E"/>
          </a:solidFill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429000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94960" y="342900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Next.js Frontend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4937760" y="3840480"/>
            <a:ext cx="34747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dashboard, vault wizard, alerts config. Convenience layer — protocol works without it.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640080" y="4709160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Anchor (Rust)  •  Helius  •  Next.js 15  •  TypeScript  •  PostgreSQL  •  Solana Wallet Adapter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14F19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SECURITY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Trust the Code, Not the Company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7863840" cy="685800"/>
          </a:xfrm>
          <a:prstGeom prst="rect">
            <a:avLst/>
          </a:prstGeom>
          <a:solidFill>
            <a:srgbClr val="131C2E"/>
          </a:solidFill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01368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69164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Onchain Verification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325880" y="1993392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timing checks verified by Solana's Clock sysvar. No off-chain override possible.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2468880"/>
            <a:ext cx="7863840" cy="685800"/>
          </a:xfrm>
          <a:prstGeom prst="rect">
            <a:avLst/>
          </a:prstGeom>
          <a:solidFill>
            <a:srgbClr val="131C2E"/>
          </a:solidFill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624328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251460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Minimum Privilege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325880" y="2816352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Owner: full control. Heartbeat authority: timestamps only. Crank: execute only valid redistributions.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40080" y="3291840"/>
            <a:ext cx="7863840" cy="685800"/>
          </a:xfrm>
          <a:prstGeom prst="rect">
            <a:avLst/>
          </a:prstGeom>
          <a:solidFill>
            <a:srgbClr val="131C2E"/>
          </a:solidFill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447288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333756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Fail-Safe Design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325880" y="3639312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any component fails, protocol defaults to NOT redistributing. Missed heartbeat extends time, never accelerates.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40080" y="4114800"/>
            <a:ext cx="7863840" cy="685800"/>
          </a:xfrm>
          <a:prstGeom prst="rect">
            <a:avLst/>
          </a:prstGeom>
          <a:solidFill>
            <a:srgbClr val="131C2E"/>
          </a:solidFill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270248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25880" y="416052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No Admin Backdoor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325880" y="4462272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admin key can drain vaults. Upgrade authority burned after stability period + audit.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14F19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BUSINESS MODEL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Three Revenue Streams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560320" cy="2286000"/>
          </a:xfrm>
          <a:prstGeom prst="rect">
            <a:avLst/>
          </a:prstGeom>
          <a:solidFill>
            <a:srgbClr val="131C2E"/>
          </a:solidFill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91640"/>
            <a:ext cx="2560320" cy="45720"/>
          </a:xfrm>
          <a:prstGeom prst="rect">
            <a:avLst/>
          </a:prstGeom>
          <a:solidFill>
            <a:srgbClr val="14F195"/>
          </a:solidFill>
        </p:spPr>
      </p:sp>
      <p:sp>
        <p:nvSpPr>
          <p:cNvPr id="6" name="Text 4"/>
          <p:cNvSpPr/>
          <p:nvPr/>
        </p:nvSpPr>
        <p:spPr>
          <a:xfrm>
            <a:off x="822960" y="1874520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F19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PRIMARY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Protocol Fee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219456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0.05%–0.1% annual fee on vault TVL.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Free tier for vaults under $10K.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Deducted at redistribution only.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1691640"/>
            <a:ext cx="2560320" cy="2286000"/>
          </a:xfrm>
          <a:prstGeom prst="rect">
            <a:avLst/>
          </a:prstGeom>
          <a:solidFill>
            <a:srgbClr val="131C2E"/>
          </a:solidFill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1691640"/>
            <a:ext cx="2560320" cy="45720"/>
          </a:xfrm>
          <a:prstGeom prst="rect">
            <a:avLst/>
          </a:prstGeom>
          <a:solidFill>
            <a:srgbClr val="9945FF"/>
          </a:solidFill>
        </p:spPr>
      </p:sp>
      <p:sp>
        <p:nvSpPr>
          <p:cNvPr id="11" name="Text 9"/>
          <p:cNvSpPr/>
          <p:nvPr/>
        </p:nvSpPr>
        <p:spPr>
          <a:xfrm>
            <a:off x="3657600" y="1874520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4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SECONDARY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0" y="210312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Premium Tier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0" y="2560320"/>
            <a:ext cx="219456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$5/month subscription.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Unlimited vaults, 10 beneficiaries,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Telegram alerts, API access.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1691640"/>
            <a:ext cx="2560320" cy="2286000"/>
          </a:xfrm>
          <a:prstGeom prst="rect">
            <a:avLst/>
          </a:prstGeom>
          <a:solidFill>
            <a:srgbClr val="131C2E"/>
          </a:solidFill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1691640"/>
            <a:ext cx="2560320" cy="45720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16" name="Text 14"/>
          <p:cNvSpPr/>
          <p:nvPr/>
        </p:nvSpPr>
        <p:spPr>
          <a:xfrm>
            <a:off x="6492240" y="1874520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92240" y="210312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B2B / Institutional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92240" y="2560320"/>
            <a:ext cx="219456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DAO treasury inheritance.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Compliance, SLA execution.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$100–$5K/month.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206240"/>
            <a:ext cx="7863840" cy="731520"/>
          </a:xfrm>
          <a:prstGeom prst="rect">
            <a:avLst/>
          </a:prstGeom>
          <a:solidFill>
            <a:srgbClr val="131C2E"/>
          </a:solidFill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2960" y="425196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F19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UNIT ECONOMICS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" y="4526280"/>
            <a:ext cx="7498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Cost per vault: ~$0.06/year  •  Fixed infra: &lt;$400/year  •  Gross margin: &gt;95% at scale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14F19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MARKET OPPORTUNITY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 Growing Crisis, Zero Solutions on Solana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840480" cy="3017520"/>
          </a:xfrm>
          <a:prstGeom prst="rect">
            <a:avLst/>
          </a:prstGeom>
          <a:solidFill>
            <a:srgbClr val="131C2E"/>
          </a:solidFill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F19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Global Market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560M+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286000" y="224028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Global crypto holders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~100M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286000" y="283464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Holders with &gt;$1K (target)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42900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$140B+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286000" y="342900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Permanently lost crypto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402336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~$10B+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286000" y="402336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Annual inheritance losses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691640"/>
            <a:ext cx="3840480" cy="3017520"/>
          </a:xfrm>
          <a:prstGeom prst="rect">
            <a:avLst/>
          </a:prstGeom>
          <a:solidFill>
            <a:srgbClr val="131C2E"/>
          </a:solidFill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0" y="178308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945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Solana Ecosystem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224028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10M+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09360" y="224028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Monthly active wallets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283464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$8B+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09360" y="283464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DeFi TVL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342900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~$0.001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309360" y="342900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Cost per transaction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402336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ZERO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309360" y="402336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Existing inheritance tools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14F19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PROJECTIONS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Conservative Revenue Forecast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554480"/>
          <a:ext cx="5029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645920"/>
            <a:ext cx="2926080" cy="640080"/>
          </a:xfrm>
          <a:prstGeom prst="rect">
            <a:avLst/>
          </a:prstGeom>
          <a:solidFill>
            <a:srgbClr val="131C2E"/>
          </a:solidFill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43600" y="1691640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Year 1 TVL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943600" y="1874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F19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$5M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406640" y="192024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1,000 vaults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760720" y="2423160"/>
            <a:ext cx="2926080" cy="640080"/>
          </a:xfrm>
          <a:prstGeom prst="rect">
            <a:avLst/>
          </a:prstGeom>
          <a:solidFill>
            <a:srgbClr val="131C2E"/>
          </a:solidFill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943600" y="2468880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Year 2 TVL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943600" y="265176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F19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$150M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406640" y="269748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10,000 vaults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760720" y="3200400"/>
            <a:ext cx="2926080" cy="640080"/>
          </a:xfrm>
          <a:prstGeom prst="rect">
            <a:avLst/>
          </a:prstGeom>
          <a:solidFill>
            <a:srgbClr val="131C2E"/>
          </a:solidFill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943600" y="3246120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Year 3 TVL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943600" y="342900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F19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$1.25B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7406640" y="347472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50,000 vaults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760720" y="3977640"/>
            <a:ext cx="2926080" cy="640080"/>
          </a:xfrm>
          <a:prstGeom prst="rect">
            <a:avLst/>
          </a:prstGeom>
          <a:solidFill>
            <a:srgbClr val="131C2E"/>
          </a:solidFill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943600" y="4023360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Year 3 Revenue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943600" y="420624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F19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$1.97M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7406640" y="425196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Solana only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14F19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ROADMAP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From Hackathon to Mainnet and Beyond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965960" cy="3017520"/>
          </a:xfrm>
          <a:prstGeom prst="rect">
            <a:avLst/>
          </a:prstGeom>
          <a:solidFill>
            <a:srgbClr val="131C2E"/>
          </a:solidFill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91640"/>
            <a:ext cx="1965960" cy="45720"/>
          </a:xfrm>
          <a:prstGeom prst="rect">
            <a:avLst/>
          </a:prstGeom>
          <a:solidFill>
            <a:srgbClr val="14F195"/>
          </a:solidFill>
        </p:spPr>
      </p:sp>
      <p:sp>
        <p:nvSpPr>
          <p:cNvPr id="6" name="Text 4"/>
          <p:cNvSpPr/>
          <p:nvPr/>
        </p:nvSpPr>
        <p:spPr>
          <a:xfrm>
            <a:off x="594360" y="1874520"/>
            <a:ext cx="16916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F19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2103120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Hackathon MVP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468880"/>
            <a:ext cx="16916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Apr–May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834640"/>
            <a:ext cx="169164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Anchor program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Devnet deploy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 wizard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Demo video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51760" y="1691640"/>
            <a:ext cx="1965960" cy="3017520"/>
          </a:xfrm>
          <a:prstGeom prst="rect">
            <a:avLst/>
          </a:prstGeom>
          <a:solidFill>
            <a:srgbClr val="131C2E"/>
          </a:solidFill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51760" y="1691640"/>
            <a:ext cx="1965960" cy="45720"/>
          </a:xfrm>
          <a:prstGeom prst="rect">
            <a:avLst/>
          </a:prstGeom>
          <a:solidFill>
            <a:srgbClr val="9945FF"/>
          </a:solidFill>
        </p:spPr>
      </p:sp>
      <p:sp>
        <p:nvSpPr>
          <p:cNvPr id="12" name="Text 10"/>
          <p:cNvSpPr/>
          <p:nvPr/>
        </p:nvSpPr>
        <p:spPr>
          <a:xfrm>
            <a:off x="2788920" y="1874520"/>
            <a:ext cx="16916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4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88920" y="2103120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Post-Hackathon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88920" y="2468880"/>
            <a:ext cx="16916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Jun–Aug 2026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88920" y="2834640"/>
            <a:ext cx="169164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 audit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Multi-asset SPL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Telegram alerts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UI/UX polish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1691640"/>
            <a:ext cx="1965960" cy="3017520"/>
          </a:xfrm>
          <a:prstGeom prst="rect">
            <a:avLst/>
          </a:prstGeom>
          <a:solidFill>
            <a:srgbClr val="131C2E"/>
          </a:solidFill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1691640"/>
            <a:ext cx="1965960" cy="45720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18" name="Text 16"/>
          <p:cNvSpPr/>
          <p:nvPr/>
        </p:nvSpPr>
        <p:spPr>
          <a:xfrm>
            <a:off x="4983480" y="1874520"/>
            <a:ext cx="16916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83480" y="2103120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Mainnet Launch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83480" y="2468880"/>
            <a:ext cx="16916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Sep–Nov 2026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83480" y="2834640"/>
            <a:ext cx="169164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Mainnet deploy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Premium tier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Multi-vault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Bug bounty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040880" y="1691640"/>
            <a:ext cx="1965960" cy="3017520"/>
          </a:xfrm>
          <a:prstGeom prst="rect">
            <a:avLst/>
          </a:prstGeom>
          <a:solidFill>
            <a:srgbClr val="131C2E"/>
          </a:solidFill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040880" y="1691640"/>
            <a:ext cx="1965960" cy="4572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4" name="Text 22"/>
          <p:cNvSpPr/>
          <p:nvPr/>
        </p:nvSpPr>
        <p:spPr>
          <a:xfrm>
            <a:off x="7178040" y="1874520"/>
            <a:ext cx="16916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178040" y="2103120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Growth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178040" y="2468880"/>
            <a:ext cx="16916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2027+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178040" y="2834640"/>
            <a:ext cx="169164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Wallet integrations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NFT / staked SOL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Multi-chain EVM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B2B / institutional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14F19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COMPETITIVE EDGE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What Makes Deadswitch Different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640080" y="1600200"/>
          <a:ext cx="7863840" cy="2368296"/>
        </p:xfrm>
        <a:graphic>
          <a:graphicData uri="http://schemas.openxmlformats.org/drawingml/2006/table">
            <a:tbl>
              <a:tblPr/>
              <a:tblGrid>
                <a:gridCol w="2194560"/>
                <a:gridCol w="1417320"/>
                <a:gridCol w="1417320"/>
                <a:gridCol w="1417320"/>
                <a:gridCol w="1417320"/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4F19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Deadswitch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8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B9DC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Sarcophagus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B9DC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Seed Phrase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B9DC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Custody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8B9DC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Transfers actual assets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4F19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Yes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8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8B9DC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8B9DC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8B9DC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Depends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8B9DC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Non-custodial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4F19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Yes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8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8B9DC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Yes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8B9DC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Yes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8B9DC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8B9DC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 manual check-in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4F19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Yes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8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8B9DC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8B9DC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N/A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8B9DC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N/A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8B9DC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 custom token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4F19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Yes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8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8B9DC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 (SARCO)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8B9DC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N/A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8B9DC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N/A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8B9DC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Zero tech for beneficiary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4F19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Yes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8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8B9DC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8B9DC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8B9DC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Maybe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8B9DC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On Solana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4F19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Yes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8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8B9DC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8B9DC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N/A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8B9DC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8B9DC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Sub-cent transactions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4F19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Yes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8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8B9DC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8B9DC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N/A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8B9DC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N/A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5029200" cy="5029200"/>
          </a:xfrm>
          <a:prstGeom prst="ellipse">
            <a:avLst/>
          </a:prstGeom>
          <a:solidFill>
            <a:srgbClr val="14F195">
              <a:alpha val="94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3200400" y="3657600"/>
            <a:ext cx="3657600" cy="3657600"/>
          </a:xfrm>
          <a:prstGeom prst="ellipse">
            <a:avLst/>
          </a:prstGeom>
          <a:solidFill>
            <a:srgbClr val="9945FF">
              <a:alpha val="95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kern="0" spc="600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DEADSWITCH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680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14F19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Your crypto shouldn't die with you.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7680960" cy="18288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7" name="Text 5"/>
          <p:cNvSpPr/>
          <p:nvPr/>
        </p:nvSpPr>
        <p:spPr>
          <a:xfrm>
            <a:off x="731520" y="3017520"/>
            <a:ext cx="768096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First inheritance protocol on Solana — zero competition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Non-custodial, permissionless, passive proof-of-life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95%+ gross margin, sub-$400/year operating cost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8B9D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Hackathon MVP → Mainnet launch within 6 months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deadswitch.xyz  •  github.com/holixora/deadswitch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5175</Words>
  <Application>WPS Presentation</Application>
  <PresentationFormat>On-screen Show (16:9)</PresentationFormat>
  <Paragraphs>428</Paragraphs>
  <Slides>14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7" baseType="lpstr">
      <vt:lpstr>Arial</vt:lpstr>
      <vt:lpstr>SimSun</vt:lpstr>
      <vt:lpstr>Wingdings</vt:lpstr>
      <vt:lpstr>Trebuchet MS</vt:lpstr>
      <vt:lpstr>Trebuchet MS</vt:lpstr>
      <vt:lpstr>Trebuchet MS</vt:lpstr>
      <vt:lpstr>Calibri</vt:lpstr>
      <vt:lpstr>Calibri</vt:lpstr>
      <vt:lpstr>Calibri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Deadswitch — Onchain Inheritance Protocol on Solana</dc:title>
  <dc:creator>Holixora</dc:creator>
  <dc:subject>PptxGenJS Presentation</dc:subject>
  <cp:lastModifiedBy>Silvester Take</cp:lastModifiedBy>
  <cp:revision>4</cp:revision>
  <dcterms:created xsi:type="dcterms:W3CDTF">2026-04-13T14:04:00Z</dcterms:created>
  <dcterms:modified xsi:type="dcterms:W3CDTF">2026-04-14T06:05:40Z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80DF8F397A7249E0B13F1C5E54DB3CF3_12</vt:lpwstr>
  </property>
  <property fmtid="{D5CDD505-2E9C-101B-9397-08002B2CF9AE}" pid="3" name="KSOProductBuildVer">
    <vt:lpwstr>1033-12.1.0.25830</vt:lpwstr>
  </property>
</Properties>
</file>